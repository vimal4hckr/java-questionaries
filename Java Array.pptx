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  <p:sldId id="283" r:id="rId30"/>
    <p:sldId id="284" r:id="rId31"/>
    <p:sldId id="285" r:id="rId32"/>
    <p:sldId id="288" r:id="rId33"/>
    <p:sldId id="287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A170EE9-30A7-4D13-AFA4-D0E7EB07C66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5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6"/>
            <p14:sldId id="283"/>
            <p14:sldId id="284"/>
            <p14:sldId id="285"/>
            <p14:sldId id="288"/>
            <p14:sldId id="287"/>
            <p14:sldId id="28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31" autoAdjust="0"/>
    <p:restoredTop sz="94660"/>
  </p:normalViewPr>
  <p:slideViewPr>
    <p:cSldViewPr snapToGrid="0">
      <p:cViewPr>
        <p:scale>
          <a:sx n="75" d="100"/>
          <a:sy n="75" d="100"/>
        </p:scale>
        <p:origin x="509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79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81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03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2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494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863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91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743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24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540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56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28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Array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Learning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24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Array?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 array is a collection of elements of the same data type stored in continuous memory locations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It helps us store multiple values using one variable name</a:t>
            </a:r>
            <a:r>
              <a:rPr lang="en-US" sz="2800" dirty="0" smtClean="0"/>
              <a:t>.</a:t>
            </a:r>
            <a:endParaRPr lang="en-US" sz="2800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Instead of creating 5 </a:t>
            </a:r>
            <a:r>
              <a:rPr lang="en-US" dirty="0" smtClean="0"/>
              <a:t>variables:    </a:t>
            </a:r>
            <a:r>
              <a:rPr lang="pt-BR" dirty="0" smtClean="0"/>
              <a:t>int </a:t>
            </a:r>
            <a:r>
              <a:rPr lang="pt-BR" dirty="0"/>
              <a:t>a1, a2, a3, a4, a5</a:t>
            </a:r>
            <a:r>
              <a:rPr lang="pt-BR" dirty="0" smtClean="0"/>
              <a:t>;</a:t>
            </a:r>
          </a:p>
          <a:p>
            <a:r>
              <a:rPr lang="pt-BR" dirty="0"/>
              <a:t>We can write : int[] arr = new int[5];</a:t>
            </a:r>
          </a:p>
          <a:p>
            <a:endParaRPr lang="pt-BR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334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19626"/>
            <a:ext cx="10058400" cy="1450757"/>
          </a:xfrm>
        </p:spPr>
        <p:txBody>
          <a:bodyPr/>
          <a:lstStyle/>
          <a:p>
            <a:r>
              <a:rPr lang="en-US" dirty="0" err="1" smtClean="0"/>
              <a:t>Usses</a:t>
            </a:r>
            <a:r>
              <a:rPr lang="en-US" dirty="0" smtClean="0"/>
              <a:t> of array: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275105"/>
            <a:ext cx="10058400" cy="2869389"/>
          </a:xfrm>
        </p:spPr>
        <p:txBody>
          <a:bodyPr>
            <a:noAutofit/>
          </a:bodyPr>
          <a:lstStyle/>
          <a:p>
            <a:r>
              <a:rPr lang="en-US" sz="2800" dirty="0"/>
              <a:t>Store large data </a:t>
            </a:r>
            <a:r>
              <a:rPr lang="en-US" sz="2800" dirty="0" smtClean="0"/>
              <a:t>easily</a:t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Reduce </a:t>
            </a:r>
            <a:r>
              <a:rPr lang="en-US" sz="2800" dirty="0"/>
              <a:t>number of </a:t>
            </a:r>
            <a:r>
              <a:rPr lang="en-US" sz="2800" dirty="0" smtClean="0"/>
              <a:t>variables</a:t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Make </a:t>
            </a:r>
            <a:r>
              <a:rPr lang="en-US" sz="2800" dirty="0"/>
              <a:t>searching &amp; sorting </a:t>
            </a:r>
            <a:r>
              <a:rPr lang="en-US" sz="2800" dirty="0" smtClean="0"/>
              <a:t>possible</a:t>
            </a:r>
          </a:p>
          <a:p>
            <a:r>
              <a:rPr lang="en-US" sz="2800" dirty="0" smtClean="0"/>
              <a:t>Help </a:t>
            </a:r>
            <a:r>
              <a:rPr lang="en-US" sz="2800" dirty="0"/>
              <a:t>process data using </a:t>
            </a:r>
            <a:r>
              <a:rPr lang="en-US" sz="2800" dirty="0" smtClean="0"/>
              <a:t>loops</a:t>
            </a:r>
          </a:p>
          <a:p>
            <a:r>
              <a:rPr lang="en-US" sz="2800" dirty="0" smtClean="0"/>
              <a:t>Provide </a:t>
            </a:r>
            <a:r>
              <a:rPr lang="en-US" sz="2800" dirty="0"/>
              <a:t>fast access using index</a:t>
            </a:r>
          </a:p>
        </p:txBody>
      </p:sp>
    </p:spTree>
    <p:extLst>
      <p:ext uri="{BB962C8B-B14F-4D97-AF65-F5344CB8AC3E}">
        <p14:creationId xmlns:p14="http://schemas.microsoft.com/office/powerpoint/2010/main" val="334178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</a:t>
            </a:r>
            <a:r>
              <a:rPr lang="en-US" dirty="0" smtClean="0"/>
              <a:t>Array: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72256"/>
            <a:ext cx="53094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size (decided at creation)</a:t>
            </a:r>
            <a:b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similar type of data</a:t>
            </a:r>
            <a:b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 starts from 0</a:t>
            </a:r>
            <a:b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is continuous</a:t>
            </a:r>
            <a:b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access using index</a:t>
            </a:r>
          </a:p>
        </p:txBody>
      </p:sp>
    </p:spTree>
    <p:extLst>
      <p:ext uri="{BB962C8B-B14F-4D97-AF65-F5344CB8AC3E}">
        <p14:creationId xmlns:p14="http://schemas.microsoft.com/office/powerpoint/2010/main" val="259197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</a:t>
            </a:r>
            <a:r>
              <a:rPr lang="en-US" dirty="0" smtClean="0"/>
              <a:t>Concept: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If size = 5</a:t>
            </a:r>
            <a:br>
              <a:rPr lang="en-US" sz="2800" dirty="0"/>
            </a:br>
            <a:r>
              <a:rPr lang="en-US" sz="2800" dirty="0"/>
              <a:t>Index = 0 to </a:t>
            </a:r>
            <a:r>
              <a:rPr lang="en-US" sz="2800" dirty="0" smtClean="0"/>
              <a:t>4</a:t>
            </a:r>
          </a:p>
          <a:p>
            <a:endParaRPr lang="en-US" sz="2800" dirty="0"/>
          </a:p>
          <a:p>
            <a:r>
              <a:rPr lang="en-US" sz="2800" dirty="0" err="1"/>
              <a:t>arr</a:t>
            </a:r>
            <a:r>
              <a:rPr lang="en-US" sz="2800" dirty="0"/>
              <a:t>[0] → first element  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[1] → second element  </a:t>
            </a:r>
          </a:p>
          <a:p>
            <a:r>
              <a:rPr lang="en-US" sz="2800" dirty="0" err="1"/>
              <a:t>arr</a:t>
            </a:r>
            <a:r>
              <a:rPr lang="en-US" sz="2800" dirty="0"/>
              <a:t>[4] → last </a:t>
            </a:r>
            <a:r>
              <a:rPr lang="en-US" sz="2800" dirty="0" smtClean="0"/>
              <a:t>element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1775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 / initialization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Learning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17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Declaration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telling the compiler: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data the array will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array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endParaRPr lang="en-US" sz="2800" dirty="0" smtClean="0"/>
          </a:p>
          <a:p>
            <a:r>
              <a:rPr lang="en-US" sz="2800" dirty="0" smtClean="0"/>
              <a:t>Syntax </a:t>
            </a:r>
            <a:r>
              <a:rPr lang="en-US" sz="2800" dirty="0"/>
              <a:t>of </a:t>
            </a:r>
            <a:r>
              <a:rPr lang="en-US" sz="2800" dirty="0" smtClean="0"/>
              <a:t>Declaration: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datatype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arrayName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97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Initialization: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allocating </a:t>
            </a:r>
            <a:r>
              <a:rPr lang="en-US" dirty="0" smtClean="0"/>
              <a:t>memory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deciding </a:t>
            </a:r>
            <a:r>
              <a:rPr lang="en-US" dirty="0"/>
              <a:t>the </a:t>
            </a:r>
            <a:r>
              <a:rPr lang="en-US" dirty="0" smtClean="0"/>
              <a:t>size 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storing values</a:t>
            </a:r>
            <a:endParaRPr lang="en-US" dirty="0"/>
          </a:p>
          <a:p>
            <a:r>
              <a:rPr lang="en-US" dirty="0"/>
              <a:t>Syntax of Initialization (Memory Allocation</a:t>
            </a:r>
            <a:r>
              <a:rPr lang="en-US" dirty="0" smtClean="0"/>
              <a:t>):</a:t>
            </a:r>
          </a:p>
          <a:p>
            <a:r>
              <a:rPr lang="en-US" dirty="0" smtClean="0"/>
              <a:t>                                   </a:t>
            </a:r>
            <a:r>
              <a:rPr lang="en-US" dirty="0" err="1" smtClean="0"/>
              <a:t>arrayName</a:t>
            </a:r>
            <a:r>
              <a:rPr lang="en-US" dirty="0" smtClean="0"/>
              <a:t> </a:t>
            </a:r>
            <a:r>
              <a:rPr lang="en-US" dirty="0"/>
              <a:t>= new datatype[size];</a:t>
            </a:r>
          </a:p>
          <a:p>
            <a:r>
              <a:rPr lang="en-US" dirty="0"/>
              <a:t>                                   marks = </a:t>
            </a:r>
            <a:r>
              <a:rPr lang="en-US" dirty="0" smtClean="0"/>
              <a:t>new </a:t>
            </a:r>
            <a:r>
              <a:rPr lang="en-US" dirty="0" err="1"/>
              <a:t>int</a:t>
            </a:r>
            <a:r>
              <a:rPr lang="en-US" dirty="0"/>
              <a:t>[5</a:t>
            </a:r>
            <a:r>
              <a:rPr lang="en-US" dirty="0" smtClean="0"/>
              <a:t>];</a:t>
            </a:r>
          </a:p>
          <a:p>
            <a:r>
              <a:rPr lang="en-US" dirty="0"/>
              <a:t>                                   Now memory is created for 5 integers.</a:t>
            </a:r>
          </a:p>
        </p:txBody>
      </p:sp>
    </p:spTree>
    <p:extLst>
      <p:ext uri="{BB962C8B-B14F-4D97-AF65-F5344CB8AC3E}">
        <p14:creationId xmlns:p14="http://schemas.microsoft.com/office/powerpoint/2010/main" val="1066371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</a:t>
            </a:r>
            <a:r>
              <a:rPr lang="en-US" dirty="0" smtClean="0"/>
              <a:t>Values: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don’t insert values, Java gives defaults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68426"/>
              </p:ext>
            </p:extLst>
          </p:nvPr>
        </p:nvGraphicFramePr>
        <p:xfrm>
          <a:off x="1645603" y="2562221"/>
          <a:ext cx="7833678" cy="2893698"/>
        </p:xfrm>
        <a:graphic>
          <a:graphicData uri="http://schemas.openxmlformats.org/drawingml/2006/table">
            <a:tbl>
              <a:tblPr/>
              <a:tblGrid>
                <a:gridCol w="3916839">
                  <a:extLst>
                    <a:ext uri="{9D8B030D-6E8A-4147-A177-3AD203B41FA5}">
                      <a16:colId xmlns:a16="http://schemas.microsoft.com/office/drawing/2014/main" val="2351195051"/>
                    </a:ext>
                  </a:extLst>
                </a:gridCol>
                <a:gridCol w="3916839">
                  <a:extLst>
                    <a:ext uri="{9D8B030D-6E8A-4147-A177-3AD203B41FA5}">
                      <a16:colId xmlns:a16="http://schemas.microsoft.com/office/drawing/2014/main" val="1957584309"/>
                    </a:ext>
                  </a:extLst>
                </a:gridCol>
              </a:tblGrid>
              <a:tr h="4822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Default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220"/>
                  </a:ext>
                </a:extLst>
              </a:tr>
              <a:tr h="48228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501777"/>
                  </a:ext>
                </a:extLst>
              </a:tr>
              <a:tr h="4822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double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355410"/>
                  </a:ext>
                </a:extLst>
              </a:tr>
              <a:tr h="4822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336056"/>
                  </a:ext>
                </a:extLst>
              </a:tr>
              <a:tr h="4822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char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'\u0000'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618130"/>
                  </a:ext>
                </a:extLst>
              </a:tr>
              <a:tr h="482283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95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730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Length property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Learning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281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length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Length is a property of an array.</a:t>
            </a:r>
          </a:p>
          <a:p>
            <a:r>
              <a:rPr lang="en-US" sz="2800" dirty="0"/>
              <a:t>how many elements the array can store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 smtClean="0"/>
              <a:t>Why important :</a:t>
            </a:r>
          </a:p>
          <a:p>
            <a:r>
              <a:rPr lang="en-US" sz="2800" dirty="0"/>
              <a:t>know the size of array</a:t>
            </a:r>
            <a:br>
              <a:rPr lang="en-US" sz="2800" dirty="0"/>
            </a:br>
            <a:r>
              <a:rPr lang="en-US" sz="2800" dirty="0" smtClean="0"/>
              <a:t>avoid </a:t>
            </a:r>
            <a:r>
              <a:rPr lang="en-US" sz="2800" dirty="0"/>
              <a:t>index errors</a:t>
            </a:r>
            <a:br>
              <a:rPr lang="en-US" sz="2800" dirty="0"/>
            </a:br>
            <a:r>
              <a:rPr lang="en-US" sz="2800" dirty="0" smtClean="0"/>
              <a:t>control </a:t>
            </a:r>
            <a:r>
              <a:rPr lang="en-US" sz="2800" dirty="0"/>
              <a:t>loops</a:t>
            </a:r>
            <a:br>
              <a:rPr lang="en-US" sz="2800" dirty="0"/>
            </a:br>
            <a:r>
              <a:rPr lang="en-US" sz="2800" dirty="0" smtClean="0"/>
              <a:t>find </a:t>
            </a:r>
            <a:r>
              <a:rPr lang="en-US" sz="2800" dirty="0"/>
              <a:t>first and last position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128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Syntax: </a:t>
            </a:r>
          </a:p>
          <a:p>
            <a:r>
              <a:rPr lang="en-US" dirty="0"/>
              <a:t>            </a:t>
            </a:r>
            <a:r>
              <a:rPr lang="en-US" dirty="0" err="1"/>
              <a:t>arrayName.length</a:t>
            </a:r>
            <a:endParaRPr lang="en-US" dirty="0"/>
          </a:p>
          <a:p>
            <a:r>
              <a:rPr lang="en-US" dirty="0" smtClean="0"/>
              <a:t>Example: 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int</a:t>
            </a:r>
            <a:r>
              <a:rPr lang="en-US" dirty="0"/>
              <a:t>[] </a:t>
            </a:r>
            <a:r>
              <a:rPr lang="en-US" dirty="0" err="1"/>
              <a:t>arr</a:t>
            </a:r>
            <a:r>
              <a:rPr lang="en-US" dirty="0"/>
              <a:t> = {10, 20, 30, 40};</a:t>
            </a:r>
          </a:p>
          <a:p>
            <a:r>
              <a:rPr lang="en-US" dirty="0" smtClean="0"/>
              <a:t>            </a:t>
            </a:r>
            <a:r>
              <a:rPr lang="en-US" dirty="0" err="1" smtClean="0"/>
              <a:t>System.out.println</a:t>
            </a:r>
            <a:r>
              <a:rPr lang="en-US" dirty="0" smtClean="0"/>
              <a:t>(</a:t>
            </a:r>
            <a:r>
              <a:rPr lang="en-US" dirty="0" err="1" smtClean="0"/>
              <a:t>arr.length</a:t>
            </a:r>
            <a:r>
              <a:rPr lang="en-US" dirty="0" smtClean="0"/>
              <a:t>);     //4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5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Traversal using </a:t>
            </a:r>
            <a:br>
              <a:rPr lang="en-US" dirty="0" smtClean="0"/>
            </a:br>
            <a:r>
              <a:rPr lang="en-US" dirty="0" smtClean="0"/>
              <a:t>for/for-each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85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for-each?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for-each is a special loop used to: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one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array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 not use index here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for(datatype variable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use variable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en-US" sz="2400" dirty="0"/>
              <a:t>loop automatically moves to next value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872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940" y="1845734"/>
            <a:ext cx="10111740" cy="4023360"/>
          </a:xfrm>
        </p:spPr>
        <p:txBody>
          <a:bodyPr/>
          <a:lstStyle/>
          <a:p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arr</a:t>
            </a:r>
            <a:r>
              <a:rPr lang="en-US" dirty="0"/>
              <a:t> = {10, 20, 30, 40};</a:t>
            </a:r>
          </a:p>
          <a:p>
            <a:r>
              <a:rPr lang="en-US" dirty="0" smtClean="0"/>
              <a:t>for(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x : </a:t>
            </a:r>
            <a:r>
              <a:rPr lang="en-US" dirty="0" err="1"/>
              <a:t>arr</a:t>
            </a:r>
            <a:r>
              <a:rPr lang="en-US" dirty="0"/>
              <a:t>) {</a:t>
            </a:r>
          </a:p>
          <a:p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(x);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 smtClean="0"/>
              <a:t>Output:</a:t>
            </a:r>
          </a:p>
          <a:p>
            <a:r>
              <a:rPr lang="en-US" dirty="0"/>
              <a:t>10</a:t>
            </a:r>
          </a:p>
          <a:p>
            <a:r>
              <a:rPr lang="en-US" dirty="0"/>
              <a:t>20</a:t>
            </a:r>
          </a:p>
          <a:p>
            <a:r>
              <a:rPr lang="en-US" dirty="0"/>
              <a:t>30</a:t>
            </a:r>
          </a:p>
          <a:p>
            <a:r>
              <a:rPr lang="en-US" dirty="0"/>
              <a:t>40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620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- Loop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86606"/>
            <a:ext cx="7086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for loop is used when we know: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 we want to repeat something.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arrays, we repeat from index 0 to last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use index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length - 1</a:t>
            </a: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23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for(initialization; condition; increment)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statements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dirty="0"/>
              <a:t>Array Traversal </a:t>
            </a:r>
            <a:r>
              <a:rPr lang="en-US" sz="2400" dirty="0" smtClean="0"/>
              <a:t>Syntax: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n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i = 0; i &lt; arr.length; i++) {</a:t>
            </a:r>
          </a:p>
          <a:p>
            <a:r>
              <a:rPr lang="nn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System.out.println(arr[i]);</a:t>
            </a:r>
          </a:p>
          <a:p>
            <a:r>
              <a:rPr lang="nn-NO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22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Searching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Learning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054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295314"/>
            <a:ext cx="10058400" cy="40233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whether an element exists in the array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its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common methods: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565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</a:t>
            </a:r>
            <a:r>
              <a:rPr lang="en-US" dirty="0" smtClean="0"/>
              <a:t>Search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Linear Search, we: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one by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to end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until we find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to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is small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not sorted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14405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of Linear </a:t>
            </a:r>
            <a:r>
              <a:rPr lang="en-US" dirty="0" smtClean="0"/>
              <a:t>Search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Start from index 0  </a:t>
            </a:r>
          </a:p>
          <a:p>
            <a:r>
              <a:rPr lang="en-US" dirty="0"/>
              <a:t>Compare each element with key  </a:t>
            </a:r>
          </a:p>
          <a:p>
            <a:r>
              <a:rPr lang="en-US" dirty="0"/>
              <a:t>If match → found  </a:t>
            </a:r>
          </a:p>
          <a:p>
            <a:r>
              <a:rPr lang="en-US" dirty="0"/>
              <a:t>If end reached → not </a:t>
            </a:r>
            <a:r>
              <a:rPr lang="en-US" dirty="0" smtClean="0"/>
              <a:t>found</a:t>
            </a:r>
          </a:p>
          <a:p>
            <a:endParaRPr lang="en-US" dirty="0"/>
          </a:p>
          <a:p>
            <a:r>
              <a:rPr lang="en-US" dirty="0"/>
              <a:t>for(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arr.length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if(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== key) {</a:t>
            </a:r>
          </a:p>
          <a:p>
            <a:r>
              <a:rPr lang="en-US" dirty="0"/>
              <a:t>        // found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918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Search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5860" y="2120054"/>
            <a:ext cx="10058400" cy="40233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works by: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dividing array into half</a:t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middle element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must be sorted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 it will not work.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0360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of Binary </a:t>
            </a:r>
            <a:r>
              <a:rPr lang="en-US" dirty="0" smtClean="0"/>
              <a:t>Search: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middle  </a:t>
            </a:r>
          </a:p>
          <a:p>
            <a:r>
              <a:rPr lang="en-US" dirty="0"/>
              <a:t>If key == middle → found  </a:t>
            </a:r>
          </a:p>
          <a:p>
            <a:r>
              <a:rPr lang="en-US" dirty="0"/>
              <a:t>If key &lt; middle → go left  </a:t>
            </a:r>
          </a:p>
          <a:p>
            <a:r>
              <a:rPr lang="en-US" dirty="0"/>
              <a:t>If key &gt; middle → go right  </a:t>
            </a:r>
          </a:p>
          <a:p>
            <a:r>
              <a:rPr lang="en-US" dirty="0" smtClean="0"/>
              <a:t>Repeat</a:t>
            </a:r>
            <a:endParaRPr lang="en-US" dirty="0"/>
          </a:p>
          <a:p>
            <a:endParaRPr lang="en-US" dirty="0" smtClean="0"/>
          </a:p>
          <a:p>
            <a:r>
              <a:rPr lang="en-US" dirty="0"/>
              <a:t>//Instead of checking all values:</a:t>
            </a:r>
          </a:p>
          <a:p>
            <a:pPr marL="0" indent="0">
              <a:buNone/>
            </a:pPr>
            <a:r>
              <a:rPr lang="en-US" dirty="0" smtClean="0"/>
              <a:t> we </a:t>
            </a:r>
            <a:r>
              <a:rPr lang="en-US" dirty="0"/>
              <a:t>remove half every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918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0"/>
            <a:ext cx="3200400" cy="1714500"/>
          </a:xfrm>
        </p:spPr>
        <p:txBody>
          <a:bodyPr/>
          <a:lstStyle/>
          <a:p>
            <a:r>
              <a:rPr lang="en-US" dirty="0"/>
              <a:t>Linear vs Binary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021378"/>
              </p:ext>
            </p:extLst>
          </p:nvPr>
        </p:nvGraphicFramePr>
        <p:xfrm>
          <a:off x="4800600" y="1379218"/>
          <a:ext cx="6492874" cy="4160524"/>
        </p:xfrm>
        <a:graphic>
          <a:graphicData uri="http://schemas.openxmlformats.org/drawingml/2006/table">
            <a:tbl>
              <a:tblPr/>
              <a:tblGrid>
                <a:gridCol w="3246437">
                  <a:extLst>
                    <a:ext uri="{9D8B030D-6E8A-4147-A177-3AD203B41FA5}">
                      <a16:colId xmlns:a16="http://schemas.microsoft.com/office/drawing/2014/main" val="186172994"/>
                    </a:ext>
                  </a:extLst>
                </a:gridCol>
                <a:gridCol w="3246437">
                  <a:extLst>
                    <a:ext uri="{9D8B030D-6E8A-4147-A177-3AD203B41FA5}">
                      <a16:colId xmlns:a16="http://schemas.microsoft.com/office/drawing/2014/main" val="464669985"/>
                    </a:ext>
                  </a:extLst>
                </a:gridCol>
              </a:tblGrid>
              <a:tr h="104013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376684"/>
                  </a:ext>
                </a:extLst>
              </a:tr>
              <a:tr h="1040131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sorting needed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 be sorted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813023"/>
                  </a:ext>
                </a:extLst>
              </a:tr>
              <a:tr h="104013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 for big data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379949"/>
                  </a:ext>
                </a:extLst>
              </a:tr>
              <a:tr h="1040131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complex</a:t>
                      </a:r>
                    </a:p>
                  </a:txBody>
                  <a:tcPr marL="59026" marR="59026" marT="29513" marB="29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357126"/>
                  </a:ext>
                </a:extLst>
              </a:tr>
            </a:tbl>
          </a:graphicData>
        </a:graphic>
      </p:graphicFrame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57200" y="2598420"/>
            <a:ext cx="3200400" cy="3379124"/>
          </a:xfrm>
        </p:spPr>
        <p:txBody>
          <a:bodyPr>
            <a:normAutofit/>
          </a:bodyPr>
          <a:lstStyle/>
          <a:p>
            <a:r>
              <a:rPr lang="en-US" sz="2000" dirty="0"/>
              <a:t>Searching finds </a:t>
            </a:r>
            <a:r>
              <a:rPr lang="en-US" sz="2000" dirty="0" smtClean="0"/>
              <a:t>element</a:t>
            </a:r>
          </a:p>
          <a:p>
            <a:r>
              <a:rPr lang="en-US" sz="2000" dirty="0" smtClean="0"/>
              <a:t>Linear </a:t>
            </a:r>
            <a:r>
              <a:rPr lang="en-US" sz="2000" dirty="0"/>
              <a:t>→ one by </a:t>
            </a:r>
            <a:r>
              <a:rPr lang="en-US" sz="2000" dirty="0" smtClean="0"/>
              <a:t>one</a:t>
            </a:r>
          </a:p>
          <a:p>
            <a:r>
              <a:rPr lang="en-US" sz="2000" dirty="0" smtClean="0"/>
              <a:t>Binary </a:t>
            </a:r>
            <a:r>
              <a:rPr lang="en-US" sz="2000" dirty="0"/>
              <a:t>→ divide &amp; </a:t>
            </a:r>
            <a:r>
              <a:rPr lang="en-US" sz="2000" dirty="0" smtClean="0"/>
              <a:t>search</a:t>
            </a:r>
          </a:p>
          <a:p>
            <a:r>
              <a:rPr lang="en-US" sz="2000" dirty="0" smtClean="0"/>
              <a:t>Binary </a:t>
            </a:r>
            <a:r>
              <a:rPr lang="en-US" sz="2000" dirty="0"/>
              <a:t>is faster</a:t>
            </a:r>
          </a:p>
        </p:txBody>
      </p:sp>
    </p:spTree>
    <p:extLst>
      <p:ext uri="{BB962C8B-B14F-4D97-AF65-F5344CB8AC3E}">
        <p14:creationId xmlns:p14="http://schemas.microsoft.com/office/powerpoint/2010/main" val="3353555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sorting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Learning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356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means arranging elements in a particular order.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Ascending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(small → big)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Descending (big → small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Sorting helps in:</a:t>
            </a:r>
          </a:p>
          <a:p>
            <a:r>
              <a:rPr lang="en-US" sz="2400" dirty="0" smtClean="0"/>
              <a:t>easy </a:t>
            </a:r>
            <a:r>
              <a:rPr lang="en-US" sz="2400" dirty="0"/>
              <a:t>searching</a:t>
            </a:r>
            <a:br>
              <a:rPr lang="en-US" sz="2400" dirty="0"/>
            </a:br>
            <a:r>
              <a:rPr lang="en-US" sz="2400" dirty="0" smtClean="0"/>
              <a:t>better </a:t>
            </a:r>
            <a:r>
              <a:rPr lang="en-US" sz="2400" dirty="0"/>
              <a:t>data organization</a:t>
            </a:r>
            <a:br>
              <a:rPr lang="en-US" sz="2400" dirty="0"/>
            </a:br>
            <a:r>
              <a:rPr lang="en-US" sz="2400" dirty="0" smtClean="0"/>
              <a:t>faster </a:t>
            </a:r>
            <a:r>
              <a:rPr lang="en-US" sz="2400" dirty="0"/>
              <a:t>algorithms</a:t>
            </a:r>
            <a:br>
              <a:rPr lang="en-US" sz="2400" dirty="0"/>
            </a:br>
            <a:r>
              <a:rPr lang="en-US" sz="2400" dirty="0" smtClean="0"/>
              <a:t>reporting </a:t>
            </a:r>
            <a:r>
              <a:rPr lang="en-US" sz="2400" dirty="0"/>
              <a:t>&amp; analysis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603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Sorting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Arrays.sort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//package :import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java.util.Arrays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/>
              <a:t>Syntax: </a:t>
            </a:r>
            <a:br>
              <a:rPr lang="en-US" sz="2400" dirty="0"/>
            </a:br>
            <a:r>
              <a:rPr lang="en-US" sz="2400" dirty="0" smtClean="0"/>
              <a:t>          </a:t>
            </a:r>
            <a:r>
              <a:rPr lang="en-US" sz="2400" dirty="0" err="1" smtClean="0"/>
              <a:t>Arrays.sort</a:t>
            </a:r>
            <a:r>
              <a:rPr lang="en-US" sz="2400" dirty="0" smtClean="0"/>
              <a:t>(</a:t>
            </a:r>
            <a:r>
              <a:rPr lang="en-US" sz="2400" dirty="0" err="1" smtClean="0"/>
              <a:t>arrayName</a:t>
            </a:r>
            <a:r>
              <a:rPr lang="en-US" sz="2400" dirty="0" smtClean="0"/>
              <a:t>);</a:t>
            </a:r>
          </a:p>
          <a:p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590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Learning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887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Maximum element in an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public class Main {</a:t>
            </a:r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  <a:r>
              <a:rPr lang="en-US" dirty="0" smtClean="0"/>
              <a:t>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[] </a:t>
            </a:r>
            <a:r>
              <a:rPr lang="en-US" dirty="0" err="1"/>
              <a:t>arr</a:t>
            </a:r>
            <a:r>
              <a:rPr lang="en-US" dirty="0"/>
              <a:t> = {15, 9, 40, 22</a:t>
            </a:r>
            <a:r>
              <a:rPr lang="en-US" dirty="0" smtClean="0"/>
              <a:t>};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int</a:t>
            </a:r>
            <a:r>
              <a:rPr lang="en-US" dirty="0"/>
              <a:t> max = </a:t>
            </a:r>
            <a:r>
              <a:rPr lang="en-US" dirty="0" err="1"/>
              <a:t>arr</a:t>
            </a:r>
            <a:r>
              <a:rPr lang="en-US" dirty="0"/>
              <a:t>[0</a:t>
            </a:r>
            <a:r>
              <a:rPr lang="en-US" dirty="0" smtClean="0"/>
              <a:t>];</a:t>
            </a:r>
            <a:endParaRPr lang="en-US" dirty="0"/>
          </a:p>
          <a:p>
            <a:r>
              <a:rPr lang="en-US" dirty="0"/>
              <a:t>    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arr.length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r>
              <a:rPr lang="en-US" dirty="0"/>
              <a:t>            if 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&gt; max) {</a:t>
            </a:r>
          </a:p>
          <a:p>
            <a:r>
              <a:rPr lang="en-US" dirty="0"/>
              <a:t>                max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            </a:t>
            </a:r>
            <a:r>
              <a:rPr lang="en-US" dirty="0" smtClean="0"/>
              <a:t>}}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("Maximum element = " + max);</a:t>
            </a:r>
          </a:p>
          <a:p>
            <a:r>
              <a:rPr lang="en-US" dirty="0"/>
              <a:t>    </a:t>
            </a:r>
            <a:r>
              <a:rPr lang="en-US" dirty="0" smtClean="0"/>
              <a:t>}}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37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Manimum</a:t>
            </a:r>
            <a:r>
              <a:rPr lang="en-US" dirty="0" smtClean="0"/>
              <a:t> </a:t>
            </a:r>
            <a:r>
              <a:rPr lang="en-US" dirty="0"/>
              <a:t>element in an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{15, 9, 40, 22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 min)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min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("Minimum element = " + min);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239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 maximum element in an array: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{15, 9, 40, 22, 35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Integer.MIN_VALUE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Integer.MIN_VALUE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 max)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max;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max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 else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&gt;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!= max)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}}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("Second maximum = "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secondMax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8909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Reverse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{10, 20, 30, 40, 50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- 1 -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temp;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("Reversed array:");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+ " ");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756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Reverse an array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4927600" cy="4023360"/>
          </a:xfrm>
        </p:spPr>
        <p:txBody>
          <a:bodyPr>
            <a:no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[]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{10, 20, 30, 40, 50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};</a:t>
            </a: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start = 0;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end =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arr.length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- 1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while (start &lt; end) {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temp =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[start];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[start] =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[end];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[end] = temp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start++;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end--;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0" y="3479076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}</a:t>
            </a:r>
          </a:p>
          <a:p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("Reversed array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:");</a:t>
            </a:r>
          </a:p>
          <a:p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for (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x :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 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{</a:t>
            </a:r>
          </a:p>
          <a:p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System.out.print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(x + " ");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877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 frequency of elements in an array: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 {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static void main(String[]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{10, 20, 10, 30, 20, 10};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visited = new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</a:p>
          <a:p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(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endParaRPr lang="en-US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if (visited[</a:t>
            </a:r>
            <a:r>
              <a:rPr lang="en-US" sz="7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 {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continue;</a:t>
            </a:r>
          </a:p>
          <a:p>
            <a: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count = 1</a:t>
            </a:r>
            <a:r>
              <a:rPr lang="en-US" dirty="0" smtClean="0"/>
              <a:t>;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+ 1; j &lt;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arr.length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[j])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count++;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visited[j] = true;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" → " + count);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8621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95</TotalTime>
  <Words>1358</Words>
  <Application>Microsoft Office PowerPoint</Application>
  <PresentationFormat>Widescreen</PresentationFormat>
  <Paragraphs>262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Tahoma</vt:lpstr>
      <vt:lpstr>Times New Roman</vt:lpstr>
      <vt:lpstr>Retrospect</vt:lpstr>
      <vt:lpstr>Array </vt:lpstr>
      <vt:lpstr>What is an Array?</vt:lpstr>
      <vt:lpstr>Usses of array:</vt:lpstr>
      <vt:lpstr>Features of Array:</vt:lpstr>
      <vt:lpstr>Index Concept:</vt:lpstr>
      <vt:lpstr>Declaration / initialization</vt:lpstr>
      <vt:lpstr>Array Declaration</vt:lpstr>
      <vt:lpstr>Array Initialization:</vt:lpstr>
      <vt:lpstr>Default Values:</vt:lpstr>
      <vt:lpstr>Length property</vt:lpstr>
      <vt:lpstr>What is length ?</vt:lpstr>
      <vt:lpstr>PowerPoint Presentation</vt:lpstr>
      <vt:lpstr>Traversal using  for/for-each</vt:lpstr>
      <vt:lpstr>What is for-each?</vt:lpstr>
      <vt:lpstr>Example Program</vt:lpstr>
      <vt:lpstr>For - Loop</vt:lpstr>
      <vt:lpstr>PowerPoint Presentation</vt:lpstr>
      <vt:lpstr>Searching</vt:lpstr>
      <vt:lpstr>Searching:</vt:lpstr>
      <vt:lpstr>Linear Search :</vt:lpstr>
      <vt:lpstr>Logic of Linear Search :</vt:lpstr>
      <vt:lpstr>Binary Search :</vt:lpstr>
      <vt:lpstr>Logic of Binary Search:</vt:lpstr>
      <vt:lpstr>Linear vs Binary</vt:lpstr>
      <vt:lpstr>sorting</vt:lpstr>
      <vt:lpstr>Sorting :</vt:lpstr>
      <vt:lpstr>Built-in Sorting in Java:</vt:lpstr>
      <vt:lpstr>problems</vt:lpstr>
      <vt:lpstr>Maximum element in an array</vt:lpstr>
      <vt:lpstr>Manimum element in an array</vt:lpstr>
      <vt:lpstr>Second maximum element in an array: </vt:lpstr>
      <vt:lpstr>Reverse :</vt:lpstr>
      <vt:lpstr>Reverse an array :</vt:lpstr>
      <vt:lpstr>Count frequency of elements in an array: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</dc:title>
  <dc:creator>Vimal</dc:creator>
  <cp:lastModifiedBy>Vimal</cp:lastModifiedBy>
  <cp:revision>9</cp:revision>
  <dcterms:created xsi:type="dcterms:W3CDTF">2026-02-10T22:15:15Z</dcterms:created>
  <dcterms:modified xsi:type="dcterms:W3CDTF">2026-02-10T23:50:40Z</dcterms:modified>
</cp:coreProperties>
</file>